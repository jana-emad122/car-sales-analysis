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4964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5548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6132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6424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7160" y="685800"/>
            <a:ext cx="13716" cy="53035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005840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691640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2377440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3063240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749039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4434840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5120640"/>
            <a:ext cx="4023360" cy="10972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6400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CAR SALES</a:t>
            </a:r>
            <a:endParaRPr sz="3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2039112"/>
            <a:ext cx="64008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800" b="1">
                <a:solidFill>
                  <a:srgbClr val="5B9BD5"/>
                </a:solidFill>
                <a:latin typeface="Aptos"/>
              </a:rPr>
              <a:t>ANALYSIS</a:t>
            </a:r>
            <a:endParaRPr sz="3800" b="1">
              <a:solidFill>
                <a:srgbClr val="5B9BD5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2889504"/>
            <a:ext cx="6217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0">
                <a:solidFill>
                  <a:srgbClr val="9DC3E6"/>
                </a:solidFill>
                <a:latin typeface="Aptos"/>
              </a:rPr>
              <a:t>End-to-End Data Analysis Project</a:t>
            </a:r>
            <a:endParaRPr sz="1900" b="0">
              <a:solidFill>
                <a:srgbClr val="9DC3E6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930" y="3218688"/>
            <a:ext cx="6949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C8D0DA"/>
                </a:solidFill>
                <a:latin typeface="Aptos"/>
              </a:rPr>
              <a:t>558,799 cleaned vehicle-sale records  •  Python  •  Excel  •  Power BI</a:t>
            </a:r>
            <a:endParaRPr sz="11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321040" y="2743200"/>
            <a:ext cx="2651760" cy="105156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8869680" y="2148840"/>
            <a:ext cx="1554480" cy="822960"/>
          </a:xfrm>
          <a:prstGeom prst="triangle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41080" y="3493008"/>
            <a:ext cx="411480" cy="411480"/>
          </a:xfrm>
          <a:prstGeom prst="ellipse">
            <a:avLst/>
          </a:prstGeom>
          <a:solidFill>
            <a:srgbClr val="22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3493008"/>
            <a:ext cx="411480" cy="411480"/>
          </a:xfrm>
          <a:prstGeom prst="ellipse">
            <a:avLst/>
          </a:prstGeom>
          <a:solidFill>
            <a:srgbClr val="2229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989320"/>
            <a:ext cx="38404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C8D0DA"/>
                </a:solidFill>
                <a:latin typeface="Aptos"/>
              </a:rPr>
              <a:t>FINAL PROJECT PRESENTATION</a:t>
            </a:r>
            <a:endParaRPr sz="90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6291072"/>
            <a:ext cx="51206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C8D0DA"/>
                </a:solidFill>
                <a:latin typeface="Aptos"/>
              </a:rPr>
              <a:t>Prepared from the uploaded project files only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Project Overview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Business-focused view of the car sales dataset and analysis workflow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2134209" cy="9601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50292" cy="9601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371600"/>
            <a:ext cx="190560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Records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" y="1655063"/>
            <a:ext cx="1905609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558,799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" y="1892807"/>
            <a:ext cx="190560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Cleaned dataset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65145" y="1261872"/>
            <a:ext cx="2134209" cy="9601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5145" y="1261872"/>
            <a:ext cx="50292" cy="96012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1449" y="1371600"/>
            <a:ext cx="190560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Variables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11449" y="1655063"/>
            <a:ext cx="1905609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22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11449" y="1892807"/>
            <a:ext cx="190560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Columns in workbook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7371" y="1261872"/>
            <a:ext cx="2134209" cy="9601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7371" y="1261872"/>
            <a:ext cx="50292" cy="96012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3675" y="1371600"/>
            <a:ext cx="190560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Makes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73675" y="1655063"/>
            <a:ext cx="1905609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97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73675" y="1892807"/>
            <a:ext cx="190560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Distinct makes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289596" y="1261872"/>
            <a:ext cx="2134209" cy="9601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9596" y="1261872"/>
            <a:ext cx="50292" cy="9601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5900" y="1371600"/>
            <a:ext cx="190560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States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35900" y="1655063"/>
            <a:ext cx="1905609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38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35900" y="1892807"/>
            <a:ext cx="190560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Distinct state codes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551822" y="1261872"/>
            <a:ext cx="2134209" cy="9601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51822" y="1261872"/>
            <a:ext cx="50292" cy="96012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8126" y="1371600"/>
            <a:ext cx="190560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Transmission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98126" y="1655063"/>
            <a:ext cx="1905609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3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98126" y="1892807"/>
            <a:ext cx="190560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Categories incl. Unknown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2514600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Project objective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2852928"/>
            <a:ext cx="5166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Analyze car sales data to understand pricing patterns and vehicle characteristics.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Turn cleaned data into decision-friendly dashboards and business insights.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51460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Business problem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36208" y="2852928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Understand how market reference value, vehicle age, mileage and condition relate to selling price.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Provide an interactive view for exploring the sales dataset.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34340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Main variables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" y="4681728"/>
            <a:ext cx="107899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Year • Make • Model • Trim • Body • Transmission • State • ConditionValue • Odometer • MMR • SellingPrice • SaleDate • VehicleAge • PriceToMMR • PriceDifference</a:t>
            </a:r>
            <a:endParaRPr sz="13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2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Data Preparation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Only cleaning evidence visible in the uploaded cleaned workbook is reported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98448"/>
            <a:ext cx="2331720" cy="1078992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0292" cy="10789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08176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Missing values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691639"/>
            <a:ext cx="21031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72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048255"/>
            <a:ext cx="2103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Odometer only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35808" y="1298448"/>
            <a:ext cx="2331720" cy="1078992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1298448"/>
            <a:ext cx="50292" cy="10789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408176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Duplicate rows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82112" y="1691639"/>
            <a:ext cx="21031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0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82112" y="2048255"/>
            <a:ext cx="2103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Full-row duplicates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04688" y="1298448"/>
            <a:ext cx="2331720" cy="1078992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04688" y="1298448"/>
            <a:ext cx="50292" cy="1078992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1408176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Duplicate IDs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50992" y="1691639"/>
            <a:ext cx="21031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0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50992" y="2048255"/>
            <a:ext cx="2103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ID duplicates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73568" y="1298448"/>
            <a:ext cx="3611880" cy="1078992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1298448"/>
            <a:ext cx="50292" cy="10789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1408176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Flagged SellingPrice = 1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19872" y="1691639"/>
            <a:ext cx="3383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19872" y="2048255"/>
            <a:ext cx="3383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Flag column remains in workbook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" y="269748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Observed preparation steps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3063240"/>
            <a:ext cx="6629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The current cleaned file contains 72 missing Odometer values; all other columns have no missing values.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The workbook contains 72 records marked by Odometer_999999_flag; the current Odometer field contains no 999999 values.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4 records are marked by SellingPrice_1_flag and still have SellingPrice = 1 in the cleaned file.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No duplicate rows and no duplicate IDs were found in the uploaded cleaned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697480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Feature engineering present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07808" y="3063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VehicleAge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PriceToMMR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PriceDifference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SellingPrice_1_flag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Odometer_999999_flag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50992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Important limitation: the Python cleaning notebook/script and the original raw dataset were not uploaded, so undocumented transformations cannot be reconstructed here.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3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Exploratory Data Analysis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Key distribution patterns from the cleaned dataset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94960" cy="278892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_mak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03520" cy="26974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1234440"/>
            <a:ext cx="5577840" cy="278892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486400" cy="26974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233672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What stands out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" y="457200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• Average Selling Price is $13,611; median is $12,100.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• Average MMR is $13,769; median is $12,250.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• Ford has the largest record count (93,553), followed by Chevrolet (60,197) and Nissan (53,946).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• Automatic transmission represents 85.17% of records (475,904).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4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Bivariate Analysis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Relationships directly supported by the cleaned dataset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3657600" cy="283464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mr_vs_pri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7592"/>
            <a:ext cx="356616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70248" y="1261872"/>
            <a:ext cx="3657600" cy="283464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ge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307592"/>
            <a:ext cx="3566160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37575" y="1261872"/>
            <a:ext cx="3639312" cy="283464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dition_vs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1307592"/>
            <a:ext cx="3547872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407408"/>
            <a:ext cx="3611880" cy="10972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407408"/>
            <a:ext cx="50292" cy="10972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4517136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MMR ↔ Selling Price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4800600"/>
            <a:ext cx="3383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 = 0.984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944" y="5175504"/>
            <a:ext cx="3383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Very strong positive association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15968" y="4407408"/>
            <a:ext cx="3611880" cy="10972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4407408"/>
            <a:ext cx="50292" cy="109728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4517136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Vehicle Age ↔ Selling Price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62272" y="4800600"/>
            <a:ext cx="3383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 = -0.587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62272" y="5175504"/>
            <a:ext cx="3383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Negative association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83296" y="4407408"/>
            <a:ext cx="3611880" cy="10972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4407408"/>
            <a:ext cx="50292" cy="109728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517136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Condition ↔ Selling Price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33832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 = 0.313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0" y="5175504"/>
            <a:ext cx="3383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Moderate positive association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571500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Business interpretation: the dataset shows that selling price tracks the MMR reference value closely, while older vehicles tend to have lower selling prices; condition is positively associated with price but less strongly.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5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Multivariate Analysis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Combined view of vehicle age and condition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1261872"/>
            <a:ext cx="6400800" cy="443484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ge_condition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07592"/>
            <a:ext cx="630936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389888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How to read the view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33488" y="1783080"/>
            <a:ext cx="4160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Each cell shows the average Selling Price for a vehicle-age band and condition-value band.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Within each age band, higher condition bands generally correspond to higher average selling prices.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Across age bands, average selling price generally declines as vehicles become older.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3488" y="4160520"/>
            <a:ext cx="4023360" cy="105156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33488" y="4160520"/>
            <a:ext cx="50292" cy="105156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4270248"/>
            <a:ext cx="3794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Example from the dataset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79792" y="4553712"/>
            <a:ext cx="37947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0–2 years / 40–49 condition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9792" y="4882895"/>
            <a:ext cx="3794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Average Selling Price ≈ $21,094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33488" y="5504688"/>
            <a:ext cx="4023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C8D0DA"/>
                </a:solidFill>
                <a:latin typeface="Aptos"/>
              </a:rPr>
              <a:t>This is a descriptive multivariate view; it does not establish causation.</a:t>
            </a:r>
            <a:endParaRPr sz="9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6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74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Data Dashboard — Excel View</a:t>
            </a:r>
            <a:endParaRPr sz="27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9601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BEC7D3"/>
                </a:solidFill>
                <a:latin typeface="Aptos"/>
              </a:rPr>
              <a:t>Rebuilt directly from the cleaned workbook • 558,799 vehicle-sale records</a:t>
            </a:r>
            <a:endParaRPr sz="12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0352" y="1298448"/>
            <a:ext cx="2212848" cy="93268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993391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9EC6EB"/>
                </a:solidFill>
                <a:latin typeface="Aptos"/>
              </a:rPr>
              <a:t>558,799</a:t>
            </a:r>
            <a:endParaRPr sz="23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993391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C7D3"/>
                </a:solidFill>
                <a:latin typeface="Aptos"/>
              </a:rPr>
              <a:t>Records</a:t>
            </a:r>
            <a:endParaRPr sz="10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89504" y="1298448"/>
            <a:ext cx="2212848" cy="93268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389888"/>
            <a:ext cx="1993391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9EC6EB"/>
                </a:solidFill>
                <a:latin typeface="Aptos"/>
              </a:rPr>
              <a:t>$13,611</a:t>
            </a:r>
            <a:endParaRPr sz="23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99232" y="1828800"/>
            <a:ext cx="1993391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C7D3"/>
                </a:solidFill>
                <a:latin typeface="Aptos"/>
              </a:rPr>
              <a:t>Avg Selling Price</a:t>
            </a:r>
            <a:endParaRPr sz="10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48656" y="1298448"/>
            <a:ext cx="2212848" cy="93268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58384" y="1389888"/>
            <a:ext cx="1993391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9EC6EB"/>
                </a:solidFill>
                <a:latin typeface="Aptos"/>
              </a:rPr>
              <a:t>$13,769</a:t>
            </a:r>
            <a:endParaRPr sz="23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58384" y="1828800"/>
            <a:ext cx="1993391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C7D3"/>
                </a:solidFill>
                <a:latin typeface="Aptos"/>
              </a:rPr>
              <a:t>Avg MMR</a:t>
            </a:r>
            <a:endParaRPr sz="10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07808" y="1298448"/>
            <a:ext cx="2212848" cy="93268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7536" y="1389888"/>
            <a:ext cx="1993391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9EC6EB"/>
                </a:solidFill>
                <a:latin typeface="Aptos"/>
              </a:rPr>
              <a:t>68,201</a:t>
            </a:r>
            <a:endParaRPr sz="23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17536" y="1828800"/>
            <a:ext cx="1993391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C7D3"/>
                </a:solidFill>
                <a:latin typeface="Aptos"/>
              </a:rPr>
              <a:t>Avg Odometer</a:t>
            </a:r>
            <a:endParaRPr sz="10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966960" y="1298448"/>
            <a:ext cx="2212848" cy="93268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6688" y="1389888"/>
            <a:ext cx="1993391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9EC6EB"/>
                </a:solidFill>
                <a:latin typeface="Aptos"/>
              </a:rPr>
              <a:t>49</a:t>
            </a:r>
            <a:endParaRPr sz="23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76688" y="1828800"/>
            <a:ext cx="1993391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C7D3"/>
                </a:solidFill>
                <a:latin typeface="Aptos"/>
              </a:rPr>
              <a:t>Max Condition</a:t>
            </a:r>
            <a:endParaRPr sz="10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0352" y="2487168"/>
            <a:ext cx="4892040" cy="3337560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63347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Top Makes by Record Count</a:t>
            </a:r>
            <a:endParaRPr sz="17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6384" y="3246120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Ford</a:t>
            </a:r>
            <a:endParaRPr sz="12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74519" y="3264408"/>
            <a:ext cx="2697480" cy="210312"/>
          </a:xfrm>
          <a:prstGeom prst="roundRect">
            <a:avLst/>
          </a:prstGeom>
          <a:solidFill>
            <a:srgbClr val="52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74519" y="3264408"/>
            <a:ext cx="2697480" cy="210312"/>
          </a:xfrm>
          <a:prstGeom prst="roundRect">
            <a:avLst/>
          </a:prstGeom>
          <a:solidFill>
            <a:srgbClr val="6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236976"/>
            <a:ext cx="56692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9EC6EB"/>
                </a:solidFill>
                <a:latin typeface="Aptos"/>
              </a:rPr>
              <a:t>93.6K</a:t>
            </a:r>
            <a:endParaRPr sz="11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6384" y="3995928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Chevrolet</a:t>
            </a:r>
            <a:endParaRPr sz="12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874519" y="4014215"/>
            <a:ext cx="2697480" cy="210312"/>
          </a:xfrm>
          <a:prstGeom prst="roundRect">
            <a:avLst/>
          </a:prstGeom>
          <a:solidFill>
            <a:srgbClr val="52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74519" y="4014215"/>
            <a:ext cx="1735702" cy="210312"/>
          </a:xfrm>
          <a:prstGeom prst="roundRect">
            <a:avLst/>
          </a:prstGeom>
          <a:solidFill>
            <a:srgbClr val="6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986784"/>
            <a:ext cx="56692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9EC6EB"/>
                </a:solidFill>
                <a:latin typeface="Aptos"/>
              </a:rPr>
              <a:t>60.2K</a:t>
            </a:r>
            <a:endParaRPr sz="11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6384" y="4745736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Nissan</a:t>
            </a:r>
            <a:endParaRPr sz="12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874519" y="4764023"/>
            <a:ext cx="2697480" cy="210312"/>
          </a:xfrm>
          <a:prstGeom prst="roundRect">
            <a:avLst/>
          </a:prstGeom>
          <a:solidFill>
            <a:srgbClr val="52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74519" y="4764023"/>
            <a:ext cx="1555463" cy="210312"/>
          </a:xfrm>
          <a:prstGeom prst="roundRect">
            <a:avLst/>
          </a:prstGeom>
          <a:solidFill>
            <a:srgbClr val="6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736592"/>
            <a:ext cx="56692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9EC6EB"/>
                </a:solidFill>
                <a:latin typeface="Aptos"/>
              </a:rPr>
              <a:t>53.9K</a:t>
            </a:r>
            <a:endParaRPr sz="11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6384" y="5422392"/>
            <a:ext cx="4343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BEC7D3"/>
                </a:solidFill>
                <a:latin typeface="Aptos"/>
              </a:rPr>
              <a:t>Ford has the largest record count in the cleaned dataset.</a:t>
            </a:r>
            <a:endParaRPr sz="10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596128" y="2487168"/>
            <a:ext cx="5577840" cy="157276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3872" y="2633472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Transmission Mix</a:t>
            </a:r>
            <a:endParaRPr sz="17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0" y="3127248"/>
            <a:ext cx="2331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Automatic</a:t>
            </a:r>
            <a:endParaRPr sz="13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80960" y="3090672"/>
            <a:ext cx="1051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100" b="1">
                <a:solidFill>
                  <a:srgbClr val="F7B73A"/>
                </a:solidFill>
                <a:latin typeface="Aptos"/>
              </a:rPr>
              <a:t>85.17%</a:t>
            </a:r>
            <a:endParaRPr sz="2100" b="1">
              <a:solidFill>
                <a:srgbClr val="F7B73A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87968" y="3127248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BEC7D3"/>
                </a:solidFill>
                <a:latin typeface="Aptos"/>
              </a:rPr>
              <a:t>475,904 records</a:t>
            </a:r>
            <a:endParaRPr sz="120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596128" y="4224528"/>
            <a:ext cx="5577840" cy="1847088"/>
          </a:xfrm>
          <a:prstGeom prst="roundRect">
            <a:avLst/>
          </a:prstGeom>
          <a:solidFill>
            <a:srgbClr val="404C62"/>
          </a:solidFill>
          <a:ln w="12700">
            <a:solidFill>
              <a:srgbClr val="52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4370832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Key Relationships with Selling Price</a:t>
            </a:r>
            <a:endParaRPr sz="1700" b="1">
              <a:solidFill>
                <a:srgbClr val="F5F7FA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52160" y="4828032"/>
            <a:ext cx="1325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MMR</a:t>
            </a:r>
            <a:endParaRPr sz="1000" b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33488" y="4828032"/>
            <a:ext cx="7132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9EC6EB"/>
                </a:solidFill>
                <a:latin typeface="Aptos"/>
              </a:rPr>
              <a:t>+0.984</a:t>
            </a:r>
            <a:endParaRPr sz="10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229600" y="4901183"/>
            <a:ext cx="2148840" cy="54864"/>
          </a:xfrm>
          <a:prstGeom prst="rect">
            <a:avLst/>
          </a:prstGeom>
          <a:solidFill>
            <a:srgbClr val="5F6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04020" y="4855464"/>
            <a:ext cx="1057229" cy="146304"/>
          </a:xfrm>
          <a:prstGeom prst="roundRect">
            <a:avLst/>
          </a:prstGeom>
          <a:solidFill>
            <a:srgbClr val="F7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5111496"/>
            <a:ext cx="1325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Vehicle Age</a:t>
            </a:r>
            <a:endParaRPr sz="1000" b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33488" y="5111496"/>
            <a:ext cx="7132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9EC6EB"/>
                </a:solidFill>
                <a:latin typeface="Aptos"/>
              </a:rPr>
              <a:t>-0.587</a:t>
            </a:r>
            <a:endParaRPr sz="10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229600" y="5184647"/>
            <a:ext cx="2148840" cy="54864"/>
          </a:xfrm>
          <a:prstGeom prst="rect">
            <a:avLst/>
          </a:prstGeom>
          <a:solidFill>
            <a:srgbClr val="5F6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73335" y="5138927"/>
            <a:ext cx="630684" cy="146304"/>
          </a:xfrm>
          <a:prstGeom prst="roundRect">
            <a:avLst/>
          </a:prstGeom>
          <a:solidFill>
            <a:srgbClr val="9EC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5394960"/>
            <a:ext cx="1325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Odometer</a:t>
            </a:r>
            <a:endParaRPr sz="1000" b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33488" y="5394960"/>
            <a:ext cx="7132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9EC6EB"/>
                </a:solidFill>
                <a:latin typeface="Aptos"/>
              </a:rPr>
              <a:t>-0.591</a:t>
            </a:r>
            <a:endParaRPr sz="10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229600" y="5468112"/>
            <a:ext cx="2148840" cy="54864"/>
          </a:xfrm>
          <a:prstGeom prst="rect">
            <a:avLst/>
          </a:prstGeom>
          <a:solidFill>
            <a:srgbClr val="5F6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69037" y="5422392"/>
            <a:ext cx="634982" cy="146304"/>
          </a:xfrm>
          <a:prstGeom prst="roundRect">
            <a:avLst/>
          </a:prstGeom>
          <a:solidFill>
            <a:srgbClr val="9EC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0" y="5678424"/>
            <a:ext cx="1325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Condition</a:t>
            </a:r>
            <a:endParaRPr sz="1000" b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333488" y="5678424"/>
            <a:ext cx="7132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9EC6EB"/>
                </a:solidFill>
                <a:latin typeface="Aptos"/>
              </a:rPr>
              <a:t>+0.313</a:t>
            </a:r>
            <a:endParaRPr sz="1000" b="1">
              <a:solidFill>
                <a:srgbClr val="9EC6EB"/>
              </a:solidFill>
              <a:latin typeface="Apto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229600" y="5751575"/>
            <a:ext cx="2148840" cy="54864"/>
          </a:xfrm>
          <a:prstGeom prst="rect">
            <a:avLst/>
          </a:prstGeom>
          <a:solidFill>
            <a:srgbClr val="5F6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04020" y="5705855"/>
            <a:ext cx="336293" cy="146304"/>
          </a:xfrm>
          <a:prstGeom prst="roundRect">
            <a:avLst/>
          </a:prstGeom>
          <a:solidFill>
            <a:srgbClr val="F7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30352" y="6236208"/>
            <a:ext cx="10643616" cy="457200"/>
          </a:xfrm>
          <a:prstGeom prst="roundRect">
            <a:avLst/>
          </a:prstGeom>
          <a:solidFill>
            <a:srgbClr val="2F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6281928"/>
            <a:ext cx="101498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Takeaway: price aligns very closely with MMR; age and mileage are negatively associated with price, while condition is positively associated.</a:t>
            </a:r>
            <a:endParaRPr sz="1050" b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0352" y="6675120"/>
            <a:ext cx="8229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EC7D3"/>
                </a:solidFill>
                <a:latin typeface="Aptos"/>
              </a:rPr>
              <a:t>Source: cleaned_car_sales.xlsx • descriptive relationships; correlation does not imply causation</a:t>
            </a:r>
            <a:endParaRPr sz="850" b="0">
              <a:solidFill>
                <a:srgbClr val="BEC7D3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61320" y="6675120"/>
            <a:ext cx="4114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BEC7D3"/>
                </a:solidFill>
                <a:latin typeface="Aptos"/>
              </a:rPr>
              <a:t>7</a:t>
            </a:r>
            <a:endParaRPr sz="850" b="0">
              <a:solidFill>
                <a:srgbClr val="BEC7D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70" y="1193534"/>
            <a:ext cx="7574181" cy="46586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Power BI Dashboard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Uploaded dashboard screenshot — presented as provided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7909560" cy="4983480"/>
          </a:xfrm>
          <a:prstGeom prst="roundRect">
            <a:avLst/>
          </a:prstGeom>
          <a:solidFill>
            <a:srgbClr val="F4F5F7"/>
          </a:solidFill>
          <a:ln>
            <a:solidFill>
              <a:srgbClr val="556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9-29 2326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1812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8512" y="137160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Visible KPIs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Average Selling Price: 13.61K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Average MMR: 13.77K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Average Odometer: 68.20K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Max ConditionValue: 49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Aptos"/>
              </a:defRPr>
            </a:pPr>
            <a:r>
              <a:t>• Record Count: 558.799K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977639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Main visual areas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0" y="4315968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Average odometer by color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Condition value trend by make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MMR and Selling Price by state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Selling Price by transmission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Selling Price by state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Selling Price by trim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uploaded Power BI dashboard screenshot +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8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KPI Validation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Cross-tool validation using only values that can be verified from the uploaded files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25880"/>
          <a:ext cx="110185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788920"/>
                <a:gridCol w="2788920"/>
                <a:gridCol w="31089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222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222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222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Power BI</a:t>
                      </a:r>
                    </a:p>
                  </a:txBody>
                  <a:tcPr>
                    <a:solidFill>
                      <a:srgbClr val="2229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Selling Price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$13,611.36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13.61K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MMR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$13,769.38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13.77K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Odometer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68,201.07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68.20K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ConditionValue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3F47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 Count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558,799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558.799K</a:t>
                      </a:r>
                    </a:p>
                  </a:txBody>
                  <a:tcPr>
                    <a:solidFill>
                      <a:srgbClr val="454E5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502920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Validation result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5376672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The Power BI screenshot values match the cleaned dataset after the same display rounding.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Python and Excel columns cannot be independently verified because their source outputs/files were not uploaded.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No unsupported explanation for a cross-tool difference has been added.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9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Key Business Insights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Data-driven observations supported by the uploaded cleaned dataset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960120" cy="8686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50292" cy="8686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63040"/>
            <a:ext cx="731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01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3080" y="1371600"/>
            <a:ext cx="3886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Pricing aligns closely with MMR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3080" y="1719072"/>
            <a:ext cx="9464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C8D0DA"/>
                </a:solidFill>
                <a:latin typeface="Aptos"/>
              </a:rPr>
              <a:t>MMR has a correlation of 0.984 with Selling Price, indicating a very strong positive association in this dataset.</a:t>
            </a:r>
            <a:endParaRPr sz="11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960120" cy="8686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42032"/>
            <a:ext cx="50292" cy="86868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651760"/>
            <a:ext cx="731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02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83080" y="2560320"/>
            <a:ext cx="3886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Vehicle age matters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2907792"/>
            <a:ext cx="9464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C8D0DA"/>
                </a:solidFill>
                <a:latin typeface="Aptos"/>
              </a:rPr>
              <a:t>VehicleAge has a correlation of -0.587 with Selling Price; average price generally declines across older age bands.</a:t>
            </a:r>
            <a:endParaRPr sz="11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3730752"/>
            <a:ext cx="960120" cy="8686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30752"/>
            <a:ext cx="50292" cy="86868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3840480"/>
            <a:ext cx="731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03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83080" y="3749039"/>
            <a:ext cx="3886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Mileage shows a similar pattern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83080" y="4096512"/>
            <a:ext cx="9464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C8D0DA"/>
                </a:solidFill>
                <a:latin typeface="Aptos"/>
              </a:rPr>
              <a:t>Odometer has a correlation of -0.591 with Selling Price, a negative association.</a:t>
            </a:r>
            <a:endParaRPr sz="11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360" y="4919472"/>
            <a:ext cx="960120" cy="86868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919472"/>
            <a:ext cx="50292" cy="8686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5029200"/>
            <a:ext cx="731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04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83080" y="4937760"/>
            <a:ext cx="3886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Condition adds information</a:t>
            </a:r>
            <a:endParaRPr sz="1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83080" y="5285232"/>
            <a:ext cx="9464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C8D0DA"/>
                </a:solidFill>
                <a:latin typeface="Aptos"/>
              </a:rPr>
              <a:t>ConditionValue has a correlation of 0.313 with Selling Price; higher condition bands generally show higher average prices within age groups.</a:t>
            </a:r>
            <a:endParaRPr sz="11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10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Business Recommendations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Practical actions grounded in the observed relationships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5257800" cy="169164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50292" cy="16916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27048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Use MMR as a core pricing reference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779776"/>
            <a:ext cx="5029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The very strong MMR–Selling Price relationship supports using MMR as a primary benchmark when reviewing transaction prices.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3520439"/>
            <a:ext cx="5257800" cy="169164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3520439"/>
            <a:ext cx="50292" cy="169164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630168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Segment inventory by vehicle age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4882895"/>
            <a:ext cx="5029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Because price decreases across older age bands, age should be included in pricing and inventory analysis.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44768" y="1417320"/>
            <a:ext cx="5257800" cy="169164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417320"/>
            <a:ext cx="50292" cy="16916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527048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Combine age with condition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91072" y="2779776"/>
            <a:ext cx="5029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The age × condition view shows meaningful differences in average price, so both dimensions should be considered together rather than separately.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44768" y="3520439"/>
            <a:ext cx="5257800" cy="169164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3520439"/>
            <a:ext cx="50292" cy="16916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630168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Use dashboard filters for targeted review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91072" y="4882895"/>
            <a:ext cx="5029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The Power BI dashboard can support focused comparisons by state, make, transmission, color and trim.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5806440"/>
            <a:ext cx="107899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C8D0DA"/>
                </a:solidFill>
                <a:latin typeface="Aptos"/>
              </a:rPr>
              <a:t>These recommendations are limited to patterns visible in the uploaded data; they do not assume business costs, margins, demand or inventory constraints that are not present in the files.</a:t>
            </a:r>
            <a:endParaRPr sz="9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11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01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Conclusion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C8D0DA"/>
                </a:solidFill>
                <a:latin typeface="Aptos"/>
              </a:rPr>
              <a:t>End-to-end view from cleaned data to decision-ready dashboards</a:t>
            </a:r>
            <a:endParaRPr sz="10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502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37560" cy="14173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0292" cy="14173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81328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What was analyzed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1764792"/>
            <a:ext cx="31089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558,799 records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664" y="2459736"/>
            <a:ext cx="3108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22 variables across vehicle, pricing and sale attributes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16552" y="1371600"/>
            <a:ext cx="3337560" cy="14173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371600"/>
            <a:ext cx="50292" cy="141732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481328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What was discovered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62856" y="1764792"/>
            <a:ext cx="31089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MMR r = 0.984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62856" y="2459736"/>
            <a:ext cx="3108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Strong price alignment plus age, mileage and condition patterns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38744" y="1371600"/>
            <a:ext cx="3337560" cy="1417320"/>
          </a:xfrm>
          <a:prstGeom prst="roundRect">
            <a:avLst/>
          </a:prstGeom>
          <a:solidFill>
            <a:srgbClr val="222935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1371600"/>
            <a:ext cx="50292" cy="141732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481328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C8D0DA"/>
                </a:solidFill>
                <a:latin typeface="Aptos"/>
              </a:rPr>
              <a:t>How dashboards help</a:t>
            </a:r>
            <a:endParaRPr sz="950" b="1">
              <a:solidFill>
                <a:srgbClr val="C8D0D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5048" y="1764792"/>
            <a:ext cx="31089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Interactive</a:t>
            </a:r>
            <a:endParaRPr sz="2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5048" y="2459736"/>
            <a:ext cx="31089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20" b="0">
                <a:solidFill>
                  <a:srgbClr val="C8D0DA"/>
                </a:solidFill>
                <a:latin typeface="Aptos"/>
              </a:rPr>
              <a:t>KPIs, filters and visuals make comparisons easier</a:t>
            </a:r>
            <a:endParaRPr sz="82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Aptos"/>
              </a:rPr>
              <a:t>Final takeaway</a:t>
            </a:r>
            <a:endParaRPr sz="1500" b="1">
              <a:solidFill>
                <a:srgbClr val="F4B94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639312"/>
            <a:ext cx="1069848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The project connects data preparation, exploratory analysis, feature engineering and dashboarding into a consistent business analysis. The uploaded Power BI KPIs reconcile with the cleaned dataset at the displayed precision.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4983480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C8D0DA"/>
                </a:solidFill>
                <a:latin typeface="Aptos"/>
              </a:rPr>
              <a:t>Scope note: independent Python-output and Excel-dashboard validation remains pending because those source files were not included in the upload.</a:t>
            </a:r>
            <a:endParaRPr sz="110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5897880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5B9BD5"/>
                </a:solidFill>
                <a:latin typeface="Aptos"/>
              </a:rPr>
              <a:t>Thank you</a:t>
            </a:r>
            <a:endParaRPr sz="1800" b="1">
              <a:solidFill>
                <a:srgbClr val="5B9BD5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565392"/>
            <a:ext cx="97840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>
                <a:solidFill>
                  <a:srgbClr val="C8D0DA"/>
                </a:solidFill>
                <a:latin typeface="Aptos"/>
              </a:rPr>
              <a:t>Source: cleaned_car_sales.xlsx</a:t>
            </a:r>
            <a:endParaRPr sz="750" b="0">
              <a:solidFill>
                <a:srgbClr val="C8D0D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C8D0DA"/>
                </a:solidFill>
                <a:latin typeface="Aptos"/>
              </a:rPr>
              <a:t>12</a:t>
            </a:r>
            <a:endParaRPr sz="800" b="0">
              <a:solidFill>
                <a:srgbClr val="C8D0DA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7525</Words>
  <Application>WPS Presentation</Application>
  <PresentationFormat>Widescreen</PresentationFormat>
  <Paragraphs>429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dc:description>generated using python-pptx</dc:description>
  <cp:lastModifiedBy>DELL</cp:lastModifiedBy>
  <cp:revision>2</cp:revision>
  <dcterms:created xsi:type="dcterms:W3CDTF">2013-01-27T09:14:00Z</dcterms:created>
  <dcterms:modified xsi:type="dcterms:W3CDTF">2026-09-29T21:19:24Z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F3B2016B98C64A84BF687369296BF594_12</vt:lpwstr>
  </property>
  <property fmtid="{D5CDD505-2E9C-101B-9397-08002B2CF9AE}" pid="3" name="KSOProductBuildVer">
    <vt:lpwstr>1033-12.1.0.28485</vt:lpwstr>
  </property>
</Properties>
</file>